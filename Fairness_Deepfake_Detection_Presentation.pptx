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5850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548640"/>
            <a:ext cx="3200400" cy="3200400"/>
          </a:xfrm>
          <a:prstGeom prst="ellipse">
            <a:avLst/>
          </a:prstGeom>
          <a:solidFill>
            <a:srgbClr val="0D8C8C">
              <a:alpha val="18000"/>
            </a:srgbClr>
          </a:solidFill>
          <a:ln w="12700">
            <a:solidFill>
              <a:srgbClr val="0D8C8C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2560320"/>
            <a:ext cx="2011680" cy="2011680"/>
          </a:xfrm>
          <a:prstGeom prst="ellipse">
            <a:avLst/>
          </a:prstGeom>
          <a:solidFill>
            <a:srgbClr val="0DBFBF">
              <a:alpha val="12000"/>
            </a:srgbClr>
          </a:solidFill>
          <a:ln w="12700">
            <a:solidFill>
              <a:srgbClr val="0DBFBF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2024 — Implementation Report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7772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Preserving Fairness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in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Detection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Fairness-Aware Detection Framework — Adapting &amp; Running the Official Code on Apple Silicon M4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2743200" cy="18288"/>
          </a:xfrm>
          <a:prstGeom prst="rect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Shiv </a:t>
            </a:r>
            <a:r>
              <a:rPr lang="en-US" sz="100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Vansh  </a:t>
            </a:r>
            <a:r>
              <a:rPr lang="en-US" sz="100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GitHub: Purdue-M2/Fairness-Generalization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47472" cy="347472"/>
          </a:xfrm>
          <a:prstGeom prst="ellipse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98755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detectors are trained primarily on accuracy — not fairness.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347472" cy="347472"/>
          </a:xfrm>
          <a:prstGeom prst="ellipse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81051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unintentionally absorb demographic biases from training data.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347472" cy="347472"/>
          </a:xfrm>
          <a:prstGeom prst="ellipse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651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63347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on mostly white male faces performs poorly on other groups.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474720"/>
            <a:ext cx="347472" cy="347472"/>
          </a:xfrm>
          <a:prstGeom prst="ellipse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474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45643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real-world harm when deployed in moderation or security systems.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914400"/>
            <a:ext cx="2743200" cy="3657600"/>
          </a:xfrm>
          <a:prstGeom prst="rect">
            <a:avLst/>
          </a:prstGeom>
          <a:solidFill>
            <a:srgbClr val="0F2D5A"/>
          </a:solidFill>
          <a:ln w="12700">
            <a:solidFill>
              <a:srgbClr val="0F2D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8076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160020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we detect deepfakes accurately AND fairly — across all demographic groups?"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0" y="3337560"/>
            <a:ext cx="2011680" cy="18288"/>
          </a:xfrm>
          <a:prstGeom prst="ellipse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3474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CVPR 2024 Paper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39319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C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5488" y="11064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Understand the 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" y="143560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CVPR 2024 fairness-aware deepfake detection framework in depth.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39319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C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22037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Configure the Repository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253288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and execute the official GitHub implementation end-to-end.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3246120"/>
            <a:ext cx="39319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C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330098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 Apple Silicon Adaptation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363016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the CUDA-centric codebase to run on macOS with MPS / CPU.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39319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C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64608" y="11064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Run Inference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143560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prediction pipeline on custom demo images and verify outputs.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0" y="2148840"/>
            <a:ext cx="39319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C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64608" y="22037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Study Fairness Learning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64608" y="253288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fairness-aware representation learning works in practice.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BFBF"/>
          </a:solidFill>
          <a:ln w="12700">
            <a:solidFill>
              <a:srgbClr val="0DB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321040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8755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40280" y="1051560"/>
            <a:ext cx="18288" cy="274320"/>
          </a:xfrm>
          <a:prstGeom prst="rect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987552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81912"/>
            <a:ext cx="8321040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5506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40280" y="1719072"/>
            <a:ext cx="18288" cy="274320"/>
          </a:xfrm>
          <a:prstGeom prst="rect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655064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49424"/>
            <a:ext cx="8321040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2257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40280" y="2386584"/>
            <a:ext cx="18288" cy="274320"/>
          </a:xfrm>
          <a:prstGeom prst="rect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2322576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Xception CNN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16936"/>
            <a:ext cx="8321040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900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40280" y="3054096"/>
            <a:ext cx="18288" cy="274320"/>
          </a:xfrm>
          <a:prstGeom prst="rect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2990088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torchvision · OpenCV · albumentations · timm · segmentation-models-pytorch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584448"/>
            <a:ext cx="8321040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65760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40280" y="3721608"/>
            <a:ext cx="18288" cy="274320"/>
          </a:xfrm>
          <a:prstGeom prst="rect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3657600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 M4 Mac  (macOS)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8321040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32511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40280" y="4389120"/>
            <a:ext cx="18288" cy="274320"/>
          </a:xfrm>
          <a:prstGeom prst="rect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0" y="4325112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CSV-based demographic annotations (img_path, label, ismale, isasian, iswhite, isblack, intersec_label)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Xception — The Backbone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Xception for deepfake detection?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50292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C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898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Separable Convolutions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filtering and channel mixing are separated into two steps — reducing computation while boosting feature quality.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441448"/>
            <a:ext cx="50292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C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50545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Artifact Detection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80720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Excels at picking up subtle texture anomalies, blending inconsistencies, and compression artifacts — exactly what deepfakes leave behind.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3557016"/>
            <a:ext cx="50292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C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62102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Weights Available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92277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weights from ImageNet allow strong initialization even without the full fairness checkpoint.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760720" y="1280160"/>
            <a:ext cx="3017520" cy="3657600"/>
          </a:xfrm>
          <a:prstGeom prst="rect">
            <a:avLst/>
          </a:prstGeom>
          <a:solidFill>
            <a:srgbClr val="0F2D5A"/>
          </a:solidFill>
          <a:ln w="12700">
            <a:solidFill>
              <a:srgbClr val="0F2D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52160" y="1417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89320" y="1874520"/>
            <a:ext cx="2560320" cy="502920"/>
          </a:xfrm>
          <a:prstGeom prst="rect">
            <a:avLst/>
          </a:prstGeom>
          <a:solidFill>
            <a:srgbClr val="1C4A6E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874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03720" y="2377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9320" y="2624328"/>
            <a:ext cx="2560320" cy="502920"/>
          </a:xfrm>
          <a:prstGeom prst="rect">
            <a:avLst/>
          </a:prstGeom>
          <a:solidFill>
            <a:srgbClr val="1C4A6E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262432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Conv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(spatial per channel)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03720" y="31272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89320" y="3374136"/>
            <a:ext cx="2560320" cy="502920"/>
          </a:xfrm>
          <a:prstGeom prst="rect">
            <a:avLst/>
          </a:prstGeom>
          <a:solidFill>
            <a:srgbClr val="1C4A6E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33741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Pointwise Conv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(1×1, cross-channel)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387705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89320" y="4123944"/>
            <a:ext cx="2560320" cy="502920"/>
          </a:xfrm>
          <a:prstGeom prst="rect">
            <a:avLst/>
          </a:prstGeom>
          <a:solidFill>
            <a:srgbClr val="0D8C8C"/>
          </a:solidFill>
          <a:ln w="12700">
            <a:solidFill>
              <a:srgbClr val="0D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412394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Xception Encoders + Disentanglement Modules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743200" cy="1536192"/>
          </a:xfrm>
          <a:prstGeom prst="rect">
            <a:avLst/>
          </a:prstGeom>
          <a:solidFill>
            <a:srgbClr val="FFFFFF"/>
          </a:solidFill>
          <a:ln w="25400">
            <a:solidFill>
              <a:srgbClr val="0D8C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2743200" cy="182880"/>
          </a:xfrm>
          <a:prstGeom prst="rect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904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Forgery Encoder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manipulation artifacts — the 'fake' signal.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1234440"/>
            <a:ext cx="2743200" cy="1536192"/>
          </a:xfrm>
          <a:prstGeom prst="rect">
            <a:avLst/>
          </a:prstGeom>
          <a:solidFill>
            <a:srgbClr val="FFFFFF"/>
          </a:solidFill>
          <a:ln w="25400">
            <a:solidFill>
              <a:srgbClr val="1E6B9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234440"/>
            <a:ext cx="2743200" cy="182880"/>
          </a:xfrm>
          <a:prstGeom prst="rect">
            <a:avLst/>
          </a:prstGeom>
          <a:solidFill>
            <a:srgbClr val="1E6B9D"/>
          </a:solidFill>
          <a:ln w="12700">
            <a:solidFill>
              <a:srgbClr val="1E6B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4904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01568" y="18105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Encoder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01568" y="20756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facial identity &amp; semantic content.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234440"/>
            <a:ext cx="2743200" cy="1536192"/>
          </a:xfrm>
          <a:prstGeom prst="rect">
            <a:avLst/>
          </a:prstGeom>
          <a:solidFill>
            <a:srgbClr val="FFFFFF"/>
          </a:solidFill>
          <a:ln w="25400">
            <a:solidFill>
              <a:srgbClr val="0A7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4496" y="1234440"/>
            <a:ext cx="2743200" cy="182880"/>
          </a:xfrm>
          <a:prstGeom prst="rect">
            <a:avLst/>
          </a:prstGeom>
          <a:solidFill>
            <a:srgbClr val="0A7A5C"/>
          </a:solidFill>
          <a:ln w="12700">
            <a:solidFill>
              <a:srgbClr val="0A7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14904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Fair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45936" y="18105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Encoder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45936" y="20756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demographic subgroup representations.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2743200" cy="1536192"/>
          </a:xfrm>
          <a:prstGeom prst="rect">
            <a:avLst/>
          </a:prstGeom>
          <a:solidFill>
            <a:srgbClr val="FFFFFF"/>
          </a:solidFill>
          <a:ln w="25400">
            <a:solidFill>
              <a:srgbClr val="7C3D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71800"/>
            <a:ext cx="2743200" cy="182880"/>
          </a:xfrm>
          <a:prstGeom prst="rect">
            <a:avLst/>
          </a:prstGeom>
          <a:solidFill>
            <a:srgbClr val="7C3D8C"/>
          </a:solidFill>
          <a:ln w="12700">
            <a:solidFill>
              <a:srgbClr val="7C3D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278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cGAN Module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5478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GAN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81304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feature disentanglement &amp; reconstruction.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10128" y="2971800"/>
            <a:ext cx="2743200" cy="1536192"/>
          </a:xfrm>
          <a:prstGeom prst="rect">
            <a:avLst/>
          </a:prstGeom>
          <a:solidFill>
            <a:srgbClr val="FFFFFF"/>
          </a:solidFill>
          <a:ln w="254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10128" y="2971800"/>
            <a:ext cx="2743200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32278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01568" y="35478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Instance Norm.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01568" y="381304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&amp; manipulates feature distributions.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54496" y="2971800"/>
            <a:ext cx="2743200" cy="1536192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54496" y="2971800"/>
            <a:ext cx="2743200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32278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 Heads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45936" y="35478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· Specific · Fairness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45936" y="381304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real/fake · manipulation type · demographic.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108960" y="4663440"/>
            <a:ext cx="2926080" cy="292608"/>
          </a:xfrm>
          <a:prstGeom prst="rect">
            <a:avLst/>
          </a:prstGeom>
          <a:solidFill>
            <a:srgbClr val="0F2D5A"/>
          </a:solidFill>
          <a:ln w="12700">
            <a:solidFill>
              <a:srgbClr val="0F2D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0" y="46634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Fused Classification Head → Final Fake Probability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losses work together to balance accuracy, reconstruction quality, and demographic fairness.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1005840"/>
          </a:xfrm>
          <a:prstGeom prst="rect">
            <a:avLst/>
          </a:prstGeom>
          <a:solidFill>
            <a:srgbClr val="FFFFFF">
              <a:alpha val="6000"/>
            </a:srgbClr>
          </a:solidFill>
          <a:ln w="19050">
            <a:solidFill>
              <a:srgbClr val="0D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109728" cy="1005840"/>
          </a:xfrm>
          <a:prstGeom prst="rect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Loss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6733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real vs. fake binary classification.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4023360" cy="1005840"/>
          </a:xfrm>
          <a:prstGeom prst="rect">
            <a:avLst/>
          </a:prstGeom>
          <a:solidFill>
            <a:srgbClr val="FFFFFF">
              <a:alpha val="6000"/>
            </a:srgbClr>
          </a:solidFill>
          <a:ln w="19050">
            <a:solidFill>
              <a:srgbClr val="1E6B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234440"/>
            <a:ext cx="109728" cy="1005840"/>
          </a:xfrm>
          <a:prstGeom prst="rect">
            <a:avLst/>
          </a:prstGeom>
          <a:solidFill>
            <a:srgbClr val="1E6B9D"/>
          </a:solidFill>
          <a:ln w="12700">
            <a:solidFill>
              <a:srgbClr val="1E6B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7488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Loss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47488" y="16733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manipulation category (FaceSwap, DeepFakes, etc.).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4023360" cy="1005840"/>
          </a:xfrm>
          <a:prstGeom prst="rect">
            <a:avLst/>
          </a:prstGeom>
          <a:solidFill>
            <a:srgbClr val="FFFFFF">
              <a:alpha val="6000"/>
            </a:srgbClr>
          </a:solidFill>
          <a:ln w="19050">
            <a:solidFill>
              <a:srgbClr val="0A7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68880"/>
            <a:ext cx="109728" cy="1005840"/>
          </a:xfrm>
          <a:prstGeom prst="rect">
            <a:avLst/>
          </a:prstGeom>
          <a:solidFill>
            <a:srgbClr val="0A7A5C"/>
          </a:solidFill>
          <a:ln w="12700">
            <a:solidFill>
              <a:srgbClr val="0A7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Loss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2907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features can faithfully reconstruct input.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6320" y="2468880"/>
            <a:ext cx="4023360" cy="1005840"/>
          </a:xfrm>
          <a:prstGeom prst="rect">
            <a:avLst/>
          </a:prstGeom>
          <a:solidFill>
            <a:srgbClr val="FFFFFF">
              <a:alpha val="6000"/>
            </a:srgbClr>
          </a:solidFill>
          <a:ln w="19050">
            <a:solidFill>
              <a:srgbClr val="7C3D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468880"/>
            <a:ext cx="109728" cy="1005840"/>
          </a:xfrm>
          <a:prstGeom prst="rect">
            <a:avLst/>
          </a:prstGeom>
          <a:solidFill>
            <a:srgbClr val="7C3D8C"/>
          </a:solidFill>
          <a:ln w="12700">
            <a:solidFill>
              <a:srgbClr val="7C3D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7488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Loss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47488" y="2907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forgery &amp; content features apart.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4023360" cy="1005840"/>
          </a:xfrm>
          <a:prstGeom prst="rect">
            <a:avLst/>
          </a:prstGeom>
          <a:solidFill>
            <a:srgbClr val="FFFFFF">
              <a:alpha val="6000"/>
            </a:srgbClr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03320"/>
            <a:ext cx="109728" cy="10058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Loss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" y="41422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demographic bias across subgroups.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3703320"/>
            <a:ext cx="4023360" cy="1005840"/>
          </a:xfrm>
          <a:prstGeom prst="rect">
            <a:avLst/>
          </a:prstGeom>
          <a:solidFill>
            <a:srgbClr val="FFFFFF">
              <a:alpha val="6000"/>
            </a:srgbClr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703320"/>
            <a:ext cx="109728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Loss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47488" y="41422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all heads for accuracy + fairness.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from raw image to fairness-aware prediction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554480" y="18745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170432" cy="1645920"/>
          </a:xfrm>
          <a:prstGeom prst="rect">
            <a:avLst/>
          </a:prstGeom>
          <a:solidFill>
            <a:srgbClr val="0F2D5A"/>
          </a:solidFill>
          <a:ln w="12700">
            <a:solidFill>
              <a:srgbClr val="0D8C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44168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Image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annotation read; image loaded via OpenCV/PIL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80944" y="18745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792224" y="1234440"/>
            <a:ext cx="1170432" cy="1645920"/>
          </a:xfrm>
          <a:prstGeom prst="rect">
            <a:avLst/>
          </a:prstGeom>
          <a:solidFill>
            <a:srgbClr val="0F2D5A"/>
          </a:solidFill>
          <a:ln w="12700">
            <a:solidFill>
              <a:srgbClr val="0D8C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92224" y="1344168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92224" y="169164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92224" y="210312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Resize, normalize, albumentations transforms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07408" y="18745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18688" y="1234440"/>
            <a:ext cx="1170432" cy="1645920"/>
          </a:xfrm>
          <a:prstGeom prst="rect">
            <a:avLst/>
          </a:prstGeom>
          <a:solidFill>
            <a:srgbClr val="0F2D5A"/>
          </a:solidFill>
          <a:ln w="12700">
            <a:solidFill>
              <a:srgbClr val="0D8C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18688" y="1344168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18688" y="169164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Encoders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18688" y="210312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Forgery · Content · Fairness encoders (Xception)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33872" y="18745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645152" y="1234440"/>
            <a:ext cx="1170432" cy="1645920"/>
          </a:xfrm>
          <a:prstGeom prst="rect">
            <a:avLst/>
          </a:prstGeom>
          <a:solidFill>
            <a:srgbClr val="0F2D5A"/>
          </a:solidFill>
          <a:ln w="12700">
            <a:solidFill>
              <a:srgbClr val="0D8C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45152" y="1344168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45152" y="169164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Disentangle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45152" y="210312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cGAN + AdaIN separate feature spaces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260336" y="18745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71616" y="1234440"/>
            <a:ext cx="1170432" cy="1645920"/>
          </a:xfrm>
          <a:prstGeom prst="rect">
            <a:avLst/>
          </a:prstGeom>
          <a:solidFill>
            <a:srgbClr val="0F2D5A"/>
          </a:solidFill>
          <a:ln w="12700">
            <a:solidFill>
              <a:srgbClr val="0D8C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71616" y="1344168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071616" y="169164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71616" y="210312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/ Specific / Fairness heads produce scores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98080" y="1234440"/>
            <a:ext cx="1170432" cy="1645920"/>
          </a:xfrm>
          <a:prstGeom prst="rect">
            <a:avLst/>
          </a:prstGeom>
          <a:solidFill>
            <a:srgbClr val="0D8C8C"/>
          </a:solidFill>
          <a:ln w="12700">
            <a:solidFill>
              <a:srgbClr val="0DBF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98080" y="1344168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498080" y="169164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Output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98080" y="210312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fake probability + demographic metadata saved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154680"/>
            <a:ext cx="8412480" cy="1645920"/>
          </a:xfrm>
          <a:prstGeom prst="rect">
            <a:avLst/>
          </a:prstGeom>
          <a:solidFill>
            <a:srgbClr val="1A1A2E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291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" y="3264408"/>
            <a:ext cx="777240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test.py \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--test_path ../demo_data/test.csv \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--savepath ../demo_results \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--batch_size 1 \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--inter_attribute male,white \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--single_attribute male-nonmale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Challenges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repo was built for NVIDIA CUDA — adapting it required significant work.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393192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447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CUDA-Only Assumptions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torch.cuda.FloatTensor calls and CUDA checkpoint loading crashed on Apple Silicon immediately.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80160"/>
            <a:ext cx="393192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4447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Missing Checkpoints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00600" y="1828800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did not ship final trained fairness detector weights — only the pretrained Xception backbone was available.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17520"/>
            <a:ext cx="393192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821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File Path Bugs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" y="3566160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directories were not created automatically; raw folder names caused file-system errors.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017520"/>
            <a:ext cx="393192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1821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Empty Batch Issues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00600" y="3566160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subgroup filtering produced zero-row batches for certain demographic intersections, causing silent failures.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BFBF"/>
          </a:solidFill>
          <a:ln w="12700">
            <a:solidFill>
              <a:srgbClr val="0DB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&amp; Adaptations Applied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832104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D8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32688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326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D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map_location=device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0" y="1042416"/>
            <a:ext cx="18288" cy="219456"/>
          </a:xfrm>
          <a:prstGeom prst="rect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932688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Patched checkpoint loading in test.py to be device-agnostic (CPU / MPS).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440180"/>
            <a:ext cx="832104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D8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40180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4401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D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Device-agnostic tensors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91840" y="1549908"/>
            <a:ext cx="18288" cy="219456"/>
          </a:xfrm>
          <a:prstGeom prst="rect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44018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torch.cuda.FloatTensor with torch.FloatTensor().to(device).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1947672"/>
            <a:ext cx="832104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D8C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47672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19476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D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Graceful missing-checkpoint handling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91840" y="2057400"/>
            <a:ext cx="18288" cy="219456"/>
          </a:xfrm>
          <a:prstGeom prst="rect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947672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loader to continue execution when the fairness head checkpoint is absent.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2455164"/>
            <a:ext cx="832104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D8C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455164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245516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D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Auto-directory creation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91840" y="2564892"/>
            <a:ext cx="18288" cy="219456"/>
          </a:xfrm>
          <a:prstGeom prst="rect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455164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os.makedirs(savepath, exist_ok=True) added before prediction file writes.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2962656"/>
            <a:ext cx="832104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D8C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962656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296265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D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folder sanitization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91840" y="3072384"/>
            <a:ext cx="18288" cy="219456"/>
          </a:xfrm>
          <a:prstGeom prst="rect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2962656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unsafe characters in folder names to prevent OS path errors.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3470148"/>
            <a:ext cx="832104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D8C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470148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347014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D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path logging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291840" y="3579876"/>
            <a:ext cx="18288" cy="219456"/>
          </a:xfrm>
          <a:prstGeom prst="rect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470148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Patched dataset loader to return readable image_path for prediction logging.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3977640"/>
            <a:ext cx="832104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D8C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977640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60120" y="39776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D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 detail printing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291840" y="4087368"/>
            <a:ext cx="18288" cy="219456"/>
          </a:xfrm>
          <a:prstGeom prst="rect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397764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filename · ground truth · confidence score · predicted class to console output.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57200" y="4485132"/>
            <a:ext cx="832104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D8C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485132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60120" y="448513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D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demo dataset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291840" y="4594860"/>
            <a:ext cx="18288" cy="219456"/>
          </a:xfrm>
          <a:prstGeom prst="rect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4485132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synthetic demo CSV with correct column schema to validate the full pipeline.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1920240" cy="1645920"/>
          </a:xfrm>
          <a:prstGeom prst="rect">
            <a:avLst/>
          </a:prstGeom>
          <a:solidFill>
            <a:srgbClr val="0F2D5A"/>
          </a:solidFill>
          <a:ln w="12700">
            <a:solidFill>
              <a:srgbClr val="0D8C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Initialized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42032" y="960120"/>
            <a:ext cx="1920240" cy="1645920"/>
          </a:xfrm>
          <a:prstGeom prst="rect">
            <a:avLst/>
          </a:prstGeom>
          <a:solidFill>
            <a:srgbClr val="0F2D5A"/>
          </a:solidFill>
          <a:ln w="12700">
            <a:solidFill>
              <a:srgbClr val="0D8C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42032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542032" y="182880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Loaded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Preprocessed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18304" y="960120"/>
            <a:ext cx="1920240" cy="1645920"/>
          </a:xfrm>
          <a:prstGeom prst="rect">
            <a:avLst/>
          </a:prstGeom>
          <a:solidFill>
            <a:srgbClr val="0F2D5A"/>
          </a:solidFill>
          <a:ln w="12700">
            <a:solidFill>
              <a:srgbClr val="0D8C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18304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718304" y="182880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94576" y="960120"/>
            <a:ext cx="1920240" cy="1645920"/>
          </a:xfrm>
          <a:prstGeom prst="rect">
            <a:avLst/>
          </a:prstGeom>
          <a:solidFill>
            <a:srgbClr val="0F2D5A"/>
          </a:solidFill>
          <a:ln w="12700">
            <a:solidFill>
              <a:srgbClr val="0D8C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94576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894576" y="182880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8412480" cy="1115568"/>
          </a:xfrm>
          <a:prstGeom prst="rect">
            <a:avLst/>
          </a:prstGeom>
          <a:solidFill>
            <a:srgbClr val="FFF9E6"/>
          </a:solidFill>
          <a:ln w="19050">
            <a:solidFill>
              <a:srgbClr val="E6C8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4436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Important Note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25526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4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does not include the final trained fairness detector checkpoint. The pretrained Xception backbone weights were sufficient to execute the complete architecture and validate the full inference workflow — but fairness metric evaluation requires the full checkpoint.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4069080"/>
            <a:ext cx="841248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114800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D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[test.py] img: demo_01.jpg  |  GT: real  |  Pred: real  |  Conf: 0.821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D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[test.py] img: demo_02.jpg  |  GT: fake  |  Pred: fake  |  Conf: 0.974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8C8C">
              <a:alpha val="12000"/>
            </a:srgbClr>
          </a:solidFill>
          <a:ln w="12700">
            <a:solidFill>
              <a:srgbClr val="0D8C8C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657600" cy="3657600"/>
          </a:xfrm>
          <a:prstGeom prst="ellipse">
            <a:avLst/>
          </a:prstGeom>
          <a:solidFill>
            <a:srgbClr val="0DBFBF">
              <a:alpha val="8000"/>
            </a:srgbClr>
          </a:solidFill>
          <a:ln w="12700">
            <a:solidFill>
              <a:srgbClr val="0DBFBF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292608" cy="292608"/>
          </a:xfrm>
          <a:prstGeom prst="ellipse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969264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reproduced and executed the core inference pipeline of the CVPR 2024 paper.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92608" cy="292608"/>
          </a:xfrm>
          <a:prstGeom prst="ellipse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37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71907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the 3-encoder + cGAN + AdaIN fairness-aware architecture in depth.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292608" cy="292608"/>
          </a:xfrm>
          <a:prstGeom prst="ellipse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871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46888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a CUDA-only research repository for Apple Silicon M4 macOS execution.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236976"/>
            <a:ext cx="292608" cy="292608"/>
          </a:xfrm>
          <a:prstGeom prst="ellipse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369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21868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8 targeted patches to stabilize the environment and run predictions.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986784"/>
            <a:ext cx="292608" cy="292608"/>
          </a:xfrm>
          <a:prstGeom prst="ellipse">
            <a:avLst/>
          </a:prstGeom>
          <a:solidFill>
            <a:srgbClr val="0D8C8C"/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867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968496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that fairness-aware deepfake detection is both theoretically sound and practically achievable.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4681728"/>
            <a:ext cx="8321040" cy="2743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D8C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6908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Lin et al. — 'Preserving Fairness Generalization in Deepfake Detection', CVPR 2024  |  github.com/Purdue-M2/Fairness-Generalization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1084</Words>
  <Application>Microsoft Office PowerPoint</Application>
  <PresentationFormat>On-screen Show (16:9)</PresentationFormat>
  <Paragraphs>203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Preserving Fairness Generalization in Deepfake Detection</dc:title>
  <dc:subject>PptxGenJS Presentation</dc:subject>
  <dc:creator>PptxGenJS</dc:creator>
  <cp:lastModifiedBy>Shivpratap Singh Rathore</cp:lastModifiedBy>
  <cp:revision>2</cp:revision>
  <dcterms:created xsi:type="dcterms:W3CDTF">2026-05-09T09:04:49Z</dcterms:created>
  <dcterms:modified xsi:type="dcterms:W3CDTF">2026-05-09T10:15:54Z</dcterms:modified>
</cp:coreProperties>
</file>